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8"/>
  </p:notesMasterIdLst>
  <p:sldIdLst>
    <p:sldId id="256" r:id="rId2"/>
    <p:sldId id="257" r:id="rId3"/>
    <p:sldId id="268" r:id="rId4"/>
    <p:sldId id="260" r:id="rId5"/>
    <p:sldId id="277" r:id="rId6"/>
    <p:sldId id="269" r:id="rId7"/>
    <p:sldId id="278" r:id="rId8"/>
    <p:sldId id="261" r:id="rId9"/>
    <p:sldId id="279" r:id="rId10"/>
    <p:sldId id="280" r:id="rId11"/>
    <p:sldId id="281" r:id="rId12"/>
    <p:sldId id="282" r:id="rId13"/>
    <p:sldId id="276" r:id="rId14"/>
    <p:sldId id="265" r:id="rId15"/>
    <p:sldId id="263" r:id="rId16"/>
    <p:sldId id="259" r:id="rId17"/>
  </p:sldIdLst>
  <p:sldSz cx="12192000" cy="6858000"/>
  <p:notesSz cx="6858000" cy="9144000"/>
  <p:embeddedFontLs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0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F7913-D531-4CEF-B4E4-028A460E7931}" v="4" dt="2026-02-18T15:11:15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Patil" userId="d5733b1212307579" providerId="LiveId" clId="{29A07903-81C0-4806-BAEC-E38EE2F639B6}"/>
    <pc:docChg chg="undo custSel addSld delSld modSld">
      <pc:chgData name="Sakshi Patil" userId="d5733b1212307579" providerId="LiveId" clId="{29A07903-81C0-4806-BAEC-E38EE2F639B6}" dt="2026-02-18T15:11:54.287" v="814" actId="20577"/>
      <pc:docMkLst>
        <pc:docMk/>
      </pc:docMkLst>
      <pc:sldChg chg="modSp mod">
        <pc:chgData name="Sakshi Patil" userId="d5733b1212307579" providerId="LiveId" clId="{29A07903-81C0-4806-BAEC-E38EE2F639B6}" dt="2026-02-18T15:11:54.287" v="814" actId="20577"/>
        <pc:sldMkLst>
          <pc:docMk/>
          <pc:sldMk cId="4097305177" sldId="263"/>
        </pc:sldMkLst>
        <pc:spChg chg="mod">
          <ac:chgData name="Sakshi Patil" userId="d5733b1212307579" providerId="LiveId" clId="{29A07903-81C0-4806-BAEC-E38EE2F639B6}" dt="2026-02-18T15:11:54.287" v="814" actId="20577"/>
          <ac:spMkLst>
            <pc:docMk/>
            <pc:sldMk cId="4097305177" sldId="263"/>
            <ac:spMk id="9" creationId="{D3EF0544-D310-E847-AFBC-D1D0CFF6D595}"/>
          </ac:spMkLst>
        </pc:spChg>
      </pc:sldChg>
      <pc:sldChg chg="addSp delSp modSp new mod">
        <pc:chgData name="Sakshi Patil" userId="d5733b1212307579" providerId="LiveId" clId="{29A07903-81C0-4806-BAEC-E38EE2F639B6}" dt="2026-02-18T15:08:38.158" v="809" actId="931"/>
        <pc:sldMkLst>
          <pc:docMk/>
          <pc:sldMk cId="1954562158" sldId="276"/>
        </pc:sldMkLst>
        <pc:graphicFrameChg chg="add mod">
          <ac:chgData name="Sakshi Patil" userId="d5733b1212307579" providerId="LiveId" clId="{29A07903-81C0-4806-BAEC-E38EE2F639B6}" dt="2026-02-18T15:08:20.360" v="808"/>
          <ac:graphicFrameMkLst>
            <pc:docMk/>
            <pc:sldMk cId="1954562158" sldId="276"/>
            <ac:graphicFrameMk id="2" creationId="{55D30B46-A381-636F-CBE0-7799A181055E}"/>
          </ac:graphicFrameMkLst>
        </pc:graphicFrameChg>
        <pc:picChg chg="add mod">
          <ac:chgData name="Sakshi Patil" userId="d5733b1212307579" providerId="LiveId" clId="{29A07903-81C0-4806-BAEC-E38EE2F639B6}" dt="2026-02-18T15:08:38.158" v="809" actId="931"/>
          <ac:picMkLst>
            <pc:docMk/>
            <pc:sldMk cId="1954562158" sldId="276"/>
            <ac:picMk id="4" creationId="{B395641A-2574-552C-CED0-13D953CC84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FE86AD5-56BD-DAB0-0D38-002600FF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996A067-1A2A-476E-FF67-CB1E78FEC3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607D1BB-4BC7-07DE-945A-F5FF152D0B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3524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511BC8C0-FB60-9342-0B6A-E7410CF3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770D3B8-FB5B-52E8-4EBB-ECCD99C77D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73066E9-A378-DD49-C690-3177B0DBF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6964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16E74B3-917D-96FE-7CE3-E3764658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C7549B2-C388-0483-C429-2D9ABC509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E7C18B90-1DBD-AF42-642A-D14B5DBCC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9305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3536AF9-E3E5-4D20-687F-5DED719D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EB80E4E-643F-25A4-1BAD-49B7E0005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A851C09-1480-6796-E8DE-3D1411BA7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6477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A5D3428-A7AA-3C18-75CB-523B4D236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D7EF81C-CBF4-1C1A-4B66-67F25A2551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D1E2868B-C6EA-DAC3-7214-2EC6B1715C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954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B3D20FF-F6F9-F679-606A-583D6D640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25D34E0-327C-F939-0CA7-4E4E1A0EF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003E4F0B-9905-19D6-08CB-4DD7892AB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8984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D9A2-6093-BA64-1C5B-A058A5977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CCFBF-E623-042D-5813-35A49EDC3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E9AF-1F1C-C561-B452-11379E5A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0BC58-9C9B-F838-0600-287972DA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314C7-AF9A-26F7-4CD9-8C789447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41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4D506-F923-FAD1-C996-8076E9E4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CA885-4CAB-7453-2CBE-C7178F004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63F69-9563-C67C-4B00-2019963D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8AC23-FEEC-15F0-D52A-3AE41597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3E805-FD5A-5EB7-97DF-0863852B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60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DC35-A7A1-20F2-52D6-C95199FB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84EE-34A1-7411-DBDA-DEA0D7959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9ECDF-6933-6022-338C-505D16959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A3F36-1420-995B-CCCC-B5144EAE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9CC5-4807-4D74-D11B-18B692D6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35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7364-D50F-0C14-7166-001CA004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AC37F-B755-114F-E45C-2DD3BFFF82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A2E38-3343-03E3-17C3-903983AE0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625DB-1D37-C4D9-9249-0FFA4B10F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BDC61-DB40-2765-C768-75D1F85E3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273DD-E58C-A2AB-2D1E-E9AE1D1E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404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4281-F020-8732-6625-4914E4298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4B7BB-182D-FFEF-442B-8E1778714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87133-9A34-70A5-2FF2-0547FF8A7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6D01F-0D13-0AAA-6884-A5B630F51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CE1A33-4476-1699-5CD3-8D5F91C38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7A726-98BB-76F9-5FA9-FE83029F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5A537C-9F28-56BB-DE7B-43A8B27B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987B6F-C529-3371-ED8F-53EE4C82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18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248A-7C39-4565-B17D-802DF7742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49DEC1-3B31-CCC1-33DF-258369A9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553B71-8956-5AC1-10A4-2FB26048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A4416-24D7-78DE-59F5-F89FF3B76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224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E2263-A607-79AF-6EC9-FA51C2115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8424B-E6D8-1B59-69C8-C691CEE1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29301-0E5A-0E48-D9F5-41DEB7F8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92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340AB-8C0D-9841-B708-0035429A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5692B-08DE-7FBC-4DEB-79B6CDE5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462D4-6315-AF23-B698-8896DC0D1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32A3C-A4C6-62B2-15ED-A680D0FA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024E0-DF67-74A6-EFEC-D79B1A1CF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4F84B-E46F-E81C-0845-7B05ED17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86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EFB4-64CC-D448-FDDB-968BD291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E08031-0553-D66A-6600-010B44EF0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8DA6B-D6FA-5577-9E44-2B6EAF76D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F6E5E-111D-DD36-C3A9-376CC623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5A516-60C6-722E-1C9E-23E9228C3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2ED88-8911-C31A-1129-50B833D7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0153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C3041-1FC8-DD3F-3BA6-D1334953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3468E-613A-C752-2C1F-1B8B962A78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69FA9-12AD-7EFA-E95C-AFCEAC8B5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A5814-9FF6-A3A6-2B17-DF6513057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9EF35-8460-D808-186A-CD444E4B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91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E95BE6-D2FE-68CB-76F5-C6F08CDDD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3A462-CAB9-F633-5F0D-85DFF32B3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F74D6-864F-5E3A-50C3-D9DC630B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AC6F1-C23D-AB0A-FE3C-56C04E8A6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9001C-149C-0E17-8C10-18051D99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33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F2D93-B185-199A-C2F3-6E0ED32D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1E2BD-000F-6DB5-DDE5-C52A65CE2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1747D-8EFB-ED83-59F2-409CDA79B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25505-C1A0-F132-8D4E-171B905AB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0D45D-BEB4-FE50-22AB-8F8835BE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94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links/8YcnNn8ej7?ctid=21810484-8989-4720-9094-279c7ca6de05&amp;pbi_source=linkShar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94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519264" y="3844212"/>
            <a:ext cx="7632441" cy="93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3500" b="1" dirty="0"/>
              <a:t>Telecom Customer Churn Analysis</a:t>
            </a:r>
            <a:endParaRPr lang="en-IN" sz="3500" b="1" i="0" u="none" strike="noStrike" cap="none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IN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856E2-611F-B0DB-D94C-56AD6AE41B7D}"/>
              </a:ext>
            </a:extLst>
          </p:cNvPr>
          <p:cNvSpPr txBox="1"/>
          <p:nvPr/>
        </p:nvSpPr>
        <p:spPr>
          <a:xfrm>
            <a:off x="4264090" y="4992225"/>
            <a:ext cx="3610947" cy="1050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 </a:t>
            </a:r>
          </a:p>
          <a:p>
            <a:pPr algn="ctr">
              <a:lnSpc>
                <a:spcPct val="15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Sakshi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6F5173-D5D1-3F47-56DA-D6AA2F037E97}"/>
              </a:ext>
            </a:extLst>
          </p:cNvPr>
          <p:cNvSpPr txBox="1"/>
          <p:nvPr/>
        </p:nvSpPr>
        <p:spPr>
          <a:xfrm>
            <a:off x="3890865" y="438539"/>
            <a:ext cx="40774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Discussion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DA9FA-DD59-6D07-7B2B-5AFC93BFAA84}"/>
              </a:ext>
            </a:extLst>
          </p:cNvPr>
          <p:cNvSpPr txBox="1"/>
          <p:nvPr/>
        </p:nvSpPr>
        <p:spPr>
          <a:xfrm>
            <a:off x="1436915" y="1595535"/>
            <a:ext cx="6764693" cy="4408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Overview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 Overview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Key Visuals and Dashboard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Insights and Key Findings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5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6B5A396-AFD0-10A4-76B0-475FC436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>
            <a:extLst>
              <a:ext uri="{FF2B5EF4-FFF2-40B4-BE49-F238E27FC236}">
                <a16:creationId xmlns:a16="http://schemas.microsoft.com/office/drawing/2014/main" id="{76701F9D-ED97-FCC5-0F88-D43012B9A6F0}"/>
              </a:ext>
            </a:extLst>
          </p:cNvPr>
          <p:cNvSpPr txBox="1"/>
          <p:nvPr/>
        </p:nvSpPr>
        <p:spPr>
          <a:xfrm>
            <a:off x="241044" y="397958"/>
            <a:ext cx="1121694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Overview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EF9269C-FE3D-3D7B-7609-6BEEFC3A4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271" y="1360631"/>
            <a:ext cx="8378890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telecom industry is highly competitive, making customer retention critical for business growth.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 small increases in churn result in significant revenue loss and higher acquisition costs.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companies lack clear insights into why customers leave.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Retention efforts are often reactive due to limited data-driven analysis.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strong need for analytical solutions to identify churn drivers, predict high-risk customers, and reduce revenue loss.</a:t>
            </a:r>
          </a:p>
        </p:txBody>
      </p:sp>
    </p:spTree>
    <p:extLst>
      <p:ext uri="{BB962C8B-B14F-4D97-AF65-F5344CB8AC3E}">
        <p14:creationId xmlns:p14="http://schemas.microsoft.com/office/powerpoint/2010/main" val="111597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18839AB-08C7-2A93-C5B5-7B4131056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18E3D6-50B9-D294-4983-5918CEDD9A8F}"/>
              </a:ext>
            </a:extLst>
          </p:cNvPr>
          <p:cNvSpPr txBox="1"/>
          <p:nvPr/>
        </p:nvSpPr>
        <p:spPr>
          <a:xfrm>
            <a:off x="923731" y="3760237"/>
            <a:ext cx="1005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A5EAE-CA8B-08ED-DE39-3E890F69DBF2}"/>
              </a:ext>
            </a:extLst>
          </p:cNvPr>
          <p:cNvSpPr txBox="1"/>
          <p:nvPr/>
        </p:nvSpPr>
        <p:spPr>
          <a:xfrm>
            <a:off x="4152122" y="373224"/>
            <a:ext cx="3424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8B2CF4-162F-5ECB-BBF4-343C38843481}"/>
              </a:ext>
            </a:extLst>
          </p:cNvPr>
          <p:cNvSpPr txBox="1"/>
          <p:nvPr/>
        </p:nvSpPr>
        <p:spPr>
          <a:xfrm>
            <a:off x="1026367" y="1306287"/>
            <a:ext cx="9818913" cy="1975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C00000"/>
                </a:solidFill>
              </a:rPr>
              <a:t>Dataset :</a:t>
            </a:r>
          </a:p>
          <a:p>
            <a:pPr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Dataset Name:</a:t>
            </a:r>
            <a:r>
              <a:rPr lang="en-US" dirty="0"/>
              <a:t>  Telecom Customer Churn Dataset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Dataset shape </a:t>
            </a:r>
            <a:r>
              <a:rPr lang="en-US" dirty="0"/>
              <a:t>: (7043 Rows, 21 Columns)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42867ED-7941-8B52-BEA0-188865126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122" y="2957770"/>
            <a:ext cx="8979158" cy="3646979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989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1B92D3-4428-8F7C-3136-908805068A49}"/>
              </a:ext>
            </a:extLst>
          </p:cNvPr>
          <p:cNvSpPr txBox="1"/>
          <p:nvPr/>
        </p:nvSpPr>
        <p:spPr>
          <a:xfrm>
            <a:off x="1091682" y="783771"/>
            <a:ext cx="10161036" cy="382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algn="just">
              <a:lnSpc>
                <a:spcPct val="150000"/>
              </a:lnSpc>
            </a:pP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Gender, senior citizen status, and partner/dependent information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 Details: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service type, phone service, and add-on services such as online backup and tech support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Information: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Contract type and customer tenure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&amp; Payment: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Monthly charges, total charges, and payment methods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Churn status indicating whether a customer has left or stayed</a:t>
            </a:r>
          </a:p>
        </p:txBody>
      </p:sp>
    </p:spTree>
    <p:extLst>
      <p:ext uri="{BB962C8B-B14F-4D97-AF65-F5344CB8AC3E}">
        <p14:creationId xmlns:p14="http://schemas.microsoft.com/office/powerpoint/2010/main" val="327015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525C3FF-EB4A-D9F3-C861-C61E5AA0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0ED9671-01AE-0C41-FFF4-C24AC8ECA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74441" y="390649"/>
            <a:ext cx="10579359" cy="739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  <a:endParaRPr lang="en-IN" sz="3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A32E10A-3AFC-7531-A395-47841B8CC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882" y="1385609"/>
            <a:ext cx="8406881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Imported and cleaned the data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remove missing and inconsistent values.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Transformed data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including correcting data types like 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categorical fields, converting values such as 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0/1 to Yes/No.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 calculated columns like </a:t>
            </a: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Tenure Groups and Total Services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better analysis.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key metrics including churn rate, customer count, and revenue impact.</a:t>
            </a:r>
          </a:p>
        </p:txBody>
      </p:sp>
    </p:spTree>
    <p:extLst>
      <p:ext uri="{BB962C8B-B14F-4D97-AF65-F5344CB8AC3E}">
        <p14:creationId xmlns:p14="http://schemas.microsoft.com/office/powerpoint/2010/main" val="3224217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CFC481-C853-F2CE-BCA2-487014763718}"/>
              </a:ext>
            </a:extLst>
          </p:cNvPr>
          <p:cNvSpPr txBox="1"/>
          <p:nvPr/>
        </p:nvSpPr>
        <p:spPr>
          <a:xfrm>
            <a:off x="2948473" y="354564"/>
            <a:ext cx="61978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rail"/>
              </a:rPr>
              <a:t>Key Visuals and Dashboards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23DF5-DCF8-1143-05AC-331B31163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54" y="1393883"/>
            <a:ext cx="2381001" cy="1213395"/>
          </a:xfrm>
          <a:prstGeom prst="rect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641710-5FE8-E411-E670-F02D399F2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220" y="1393883"/>
            <a:ext cx="2279780" cy="12136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169763-C372-1178-2344-2F8E979D4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953" y="3061822"/>
            <a:ext cx="2308673" cy="121339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533DCB-FE85-2D61-D689-02149C609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220" y="3047231"/>
            <a:ext cx="2306355" cy="12878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EFBA63-4100-59D4-4318-378739347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3255" y="4729541"/>
            <a:ext cx="2170671" cy="13024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A17DCA0E-2012-49A9-9010-5E6452E93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405" y="2080201"/>
            <a:ext cx="4963886" cy="2949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customers in the dataset: 7,043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26.54% overall churn rate indicates notable customer loss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1,869 customers have churned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5,174 customers are currently retained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churn has led to 2.86M in revenue loss</a:t>
            </a:r>
          </a:p>
        </p:txBody>
      </p:sp>
    </p:spTree>
    <p:extLst>
      <p:ext uri="{BB962C8B-B14F-4D97-AF65-F5344CB8AC3E}">
        <p14:creationId xmlns:p14="http://schemas.microsoft.com/office/powerpoint/2010/main" val="394801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7B0FBDC8-02A8-6039-C3A1-11AFA0277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606E-9D1F-B3B5-7C4F-FDDA78D28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153" y="158620"/>
            <a:ext cx="10693648" cy="653143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Factors Influencing Customer Churn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404E02-4399-1B1D-FF1B-CC733CAA9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09" y="1238989"/>
            <a:ext cx="3753374" cy="4734586"/>
          </a:xfrm>
          <a:prstGeom prst="rect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36D3045D-5019-8878-46CA-388A9F14E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3094" y="1228221"/>
            <a:ext cx="5831633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visual identifies the strongest factors that influence whether a customer will churn.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compares how different contract types, services, and tenure levels affect churn likelihood.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C1BEE0-A4D5-0481-8E6E-AB9FDD65C51C}"/>
              </a:ext>
            </a:extLst>
          </p:cNvPr>
          <p:cNvSpPr txBox="1"/>
          <p:nvPr/>
        </p:nvSpPr>
        <p:spPr>
          <a:xfrm>
            <a:off x="5579705" y="3347708"/>
            <a:ext cx="5774095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on month-to-month contracts show the highest churn risk.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technical support and use of fiber optic internet significantly increase the chance of churn</a:t>
            </a:r>
          </a:p>
        </p:txBody>
      </p:sp>
    </p:spTree>
    <p:extLst>
      <p:ext uri="{BB962C8B-B14F-4D97-AF65-F5344CB8AC3E}">
        <p14:creationId xmlns:p14="http://schemas.microsoft.com/office/powerpoint/2010/main" val="264792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B288D-5677-B30A-ECA4-9ACE9870B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46" y="1591538"/>
            <a:ext cx="4963886" cy="367492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62E7CB-032F-D093-959D-A73B97E06D96}"/>
              </a:ext>
            </a:extLst>
          </p:cNvPr>
          <p:cNvSpPr txBox="1"/>
          <p:nvPr/>
        </p:nvSpPr>
        <p:spPr>
          <a:xfrm>
            <a:off x="3424336" y="251927"/>
            <a:ext cx="57219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Rate by Contract Type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71C644A-48D3-C15F-BD33-00B6B48E8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158" y="1591538"/>
            <a:ext cx="5721996" cy="1333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chart compares customer churn rates across different contract durations.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contract length impacts customer retention.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19F1F-325B-CBE0-C536-78F03C408E33}"/>
              </a:ext>
            </a:extLst>
          </p:cNvPr>
          <p:cNvSpPr txBox="1"/>
          <p:nvPr/>
        </p:nvSpPr>
        <p:spPr>
          <a:xfrm>
            <a:off x="5938157" y="3429000"/>
            <a:ext cx="5818413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contracts have the highest churn rate.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decreases significantly for one-year and is lowest for two-year contracts, showing longer contracts improve retention.</a:t>
            </a:r>
          </a:p>
        </p:txBody>
      </p:sp>
    </p:spTree>
    <p:extLst>
      <p:ext uri="{BB962C8B-B14F-4D97-AF65-F5344CB8AC3E}">
        <p14:creationId xmlns:p14="http://schemas.microsoft.com/office/powerpoint/2010/main" val="3913823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A4B86A-CFBE-A56E-53C0-32650C08F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1651518"/>
            <a:ext cx="5214637" cy="37695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B1093CF-D2E0-4C3F-3EC5-A2F76AE40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535" y="1357002"/>
            <a:ext cx="5458408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visual compares the total number of customers with churn rate across different internet service types.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highlights how customer volume and churn behavior vary by service.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B4D7E-9AF6-C349-B2CB-B205D3A5D16C}"/>
              </a:ext>
            </a:extLst>
          </p:cNvPr>
          <p:cNvSpPr txBox="1"/>
          <p:nvPr/>
        </p:nvSpPr>
        <p:spPr>
          <a:xfrm>
            <a:off x="1688841" y="345232"/>
            <a:ext cx="926529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 and Churn Rate by Internet Service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8488C6-2D98-943F-AED4-78E07EA52274}"/>
              </a:ext>
            </a:extLst>
          </p:cNvPr>
          <p:cNvSpPr txBox="1"/>
          <p:nvPr/>
        </p:nvSpPr>
        <p:spPr>
          <a:xfrm>
            <a:off x="6288832" y="3429000"/>
            <a:ext cx="5337111" cy="2258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Insights</a:t>
            </a:r>
          </a:p>
          <a:p>
            <a:pPr>
              <a:buNone/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has the highest churn rate despite having a large customer base.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DSL shows moderate churn, while customers with no internet service have the lowest churn rate.</a:t>
            </a:r>
          </a:p>
        </p:txBody>
      </p:sp>
    </p:spTree>
    <p:extLst>
      <p:ext uri="{BB962C8B-B14F-4D97-AF65-F5344CB8AC3E}">
        <p14:creationId xmlns:p14="http://schemas.microsoft.com/office/powerpoint/2010/main" val="3955395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2A67DA-4AE7-088B-5ACC-543229A51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95" y="1656184"/>
            <a:ext cx="4421929" cy="354563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D69F5E5-A3A5-388B-F041-F7D31FE88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1592" y="1145175"/>
            <a:ext cx="5617028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gauge shows the comparison between revenue retained from active customers and revenue lost due to churn.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quick view of the financial impact of customer churn.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CF76B-614D-89A4-6DCC-985CA91384E6}"/>
              </a:ext>
            </a:extLst>
          </p:cNvPr>
          <p:cNvSpPr txBox="1"/>
          <p:nvPr/>
        </p:nvSpPr>
        <p:spPr>
          <a:xfrm>
            <a:off x="5971592" y="3676261"/>
            <a:ext cx="5747657" cy="2258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>
              <a:buNone/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2.86M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has been lost due to churned customers.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revenue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13.19M retained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still comes from active customers, highlighting the importance of reducing churn to protect revenue.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E5FFF-02CD-D8C4-8BD5-0B3110F81A24}"/>
              </a:ext>
            </a:extLst>
          </p:cNvPr>
          <p:cNvSpPr txBox="1"/>
          <p:nvPr/>
        </p:nvSpPr>
        <p:spPr>
          <a:xfrm>
            <a:off x="2715208" y="335902"/>
            <a:ext cx="64311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Retained and Revenue Lost</a:t>
            </a:r>
            <a:endParaRPr lang="en-IN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748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53FAD0-3911-68D4-EA3E-641C2F894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1591" y="1340581"/>
            <a:ext cx="5290457" cy="1704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heatmap shows how customer churn is distributed across different contract types and internet services.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Darker colors indicate higher churn concentration.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7CAF3-8FDC-5055-70A6-62014A0B3F93}"/>
              </a:ext>
            </a:extLst>
          </p:cNvPr>
          <p:cNvSpPr txBox="1"/>
          <p:nvPr/>
        </p:nvSpPr>
        <p:spPr>
          <a:xfrm>
            <a:off x="5971592" y="3517641"/>
            <a:ext cx="5536163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customers using fiber optic internet have the highest churn concentration.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is significantly lower for one-year and two-year contracts, especially for customers without internet or using DSL.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39DE5-F411-096F-45EA-108B9931C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89" y="2004550"/>
            <a:ext cx="4422587" cy="329476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2CCF22-1015-908A-E3C0-7D2E7120F7D1}"/>
              </a:ext>
            </a:extLst>
          </p:cNvPr>
          <p:cNvSpPr txBox="1"/>
          <p:nvPr/>
        </p:nvSpPr>
        <p:spPr>
          <a:xfrm>
            <a:off x="1894114" y="233265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Churn Concentration by Contract and Internet Service</a:t>
            </a:r>
            <a:endParaRPr lang="en-IN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104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CDABA4-28C1-E869-31AC-87D8E8D6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15"/>
            <a:ext cx="12192000" cy="68069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95641A-2574-552C-CED0-13D953CC8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5" y="0"/>
            <a:ext cx="121611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62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16FE0DD-CFF0-9660-5215-1269CF335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6A782-FDA1-A7D3-83B0-DAFA463F2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30747" cy="455969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Key findings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6BF4FC-9E9B-79BC-714F-A37A43452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947" y="1144532"/>
            <a:ext cx="9853126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Churn is highest among short-tenure customers, month-to-month contracts, and fiber optic users.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 is the strongest churn driver, with long-term contracts improving retention.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technical support and use of electronic check payments increase churn risk.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High-risk customers contribute disproportionately to churn and revenue loss.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Nearly 17.83% of total revenue is lost due to churn, making it a major financial concern.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FA07E1B-33AB-932D-3114-0C1074BF5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584" y="4126137"/>
            <a:ext cx="8630816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long-term contracts to reduce churn.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high-risk and new customers with early retention offers.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fiber optic service quality and support.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use of technical support services.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 customers to reliable, automated payment methods.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19816C-FBC3-AB2A-9199-CB63E127BAAB}"/>
              </a:ext>
            </a:extLst>
          </p:cNvPr>
          <p:cNvSpPr txBox="1"/>
          <p:nvPr/>
        </p:nvSpPr>
        <p:spPr>
          <a:xfrm>
            <a:off x="3340359" y="3573624"/>
            <a:ext cx="442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343010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5F661D7-CC91-8A46-1A98-7D9953EC3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B4A7E8-2432-EA47-F1F8-764027CD3786}"/>
              </a:ext>
            </a:extLst>
          </p:cNvPr>
          <p:cNvSpPr txBox="1"/>
          <p:nvPr/>
        </p:nvSpPr>
        <p:spPr>
          <a:xfrm>
            <a:off x="4320073" y="261257"/>
            <a:ext cx="3526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08E48FE-B9E8-9929-9159-E7E23626B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672" y="1337761"/>
            <a:ext cx="9685177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in the telecom industry is primarily driven by contract type, tenure, and service experience.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Month-to-month contracts and short-tenure customers exhibit the highest churn and represent the greatest retention opportunity.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technical support and certain billing methods further increase churn risk.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Churn risk segmentation enables early identification of high-risk customers, allowing proactive intervention.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Targeted retention strategies can significantly reduce revenue loss and improve customer lifetime 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EF0544-D310-E847-AFBC-D1D0CFF6D595}"/>
              </a:ext>
            </a:extLst>
          </p:cNvPr>
          <p:cNvSpPr txBox="1"/>
          <p:nvPr/>
        </p:nvSpPr>
        <p:spPr>
          <a:xfrm>
            <a:off x="2892489" y="5486900"/>
            <a:ext cx="210888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Dashboard</a:t>
            </a:r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305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993877" y="2883186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 dirty="0">
              <a:solidFill>
                <a:srgbClr val="8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</TotalTime>
  <Words>827</Words>
  <Application>Microsoft Office PowerPoint</Application>
  <PresentationFormat>Widescreen</PresentationFormat>
  <Paragraphs>96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Arail</vt:lpstr>
      <vt:lpstr>Aptos Display</vt:lpstr>
      <vt:lpstr>Libre Baskerville</vt:lpstr>
      <vt:lpstr>Aptos</vt:lpstr>
      <vt:lpstr>Arial</vt:lpstr>
      <vt:lpstr>Times New Roman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Preparation</vt:lpstr>
      <vt:lpstr>PowerPoint Presentation</vt:lpstr>
      <vt:lpstr>Key Factors Influencing Customer Churn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Insights and Key findings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Sakshi Patil</cp:lastModifiedBy>
  <cp:revision>18</cp:revision>
  <cp:lastPrinted>2026-01-10T08:00:38Z</cp:lastPrinted>
  <dcterms:created xsi:type="dcterms:W3CDTF">2021-02-16T05:19:01Z</dcterms:created>
  <dcterms:modified xsi:type="dcterms:W3CDTF">2026-02-18T15:12:03Z</dcterms:modified>
</cp:coreProperties>
</file>